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8" r:id="rId3"/>
    <p:sldId id="259" r:id="rId4"/>
    <p:sldId id="260" r:id="rId5"/>
    <p:sldId id="261" r:id="rId6"/>
    <p:sldId id="262" r:id="rId7"/>
    <p:sldId id="264" r:id="rId8"/>
    <p:sldId id="272" r:id="rId9"/>
    <p:sldId id="271" r:id="rId10"/>
    <p:sldId id="270" r:id="rId11"/>
  </p:sldIdLst>
  <p:sldSz cx="9144000" cy="5143500" type="screen16x9"/>
  <p:notesSz cx="5143500" cy="9144000"/>
  <p:embeddedFontLst>
    <p:embeddedFont>
      <p:font typeface="Source Sans 3" panose="020B0604020202020204" charset="0"/>
      <p:bold r:id="rId13"/>
      <p:boldItalic r:id="rId14"/>
    </p:embeddedFont>
    <p:embeddedFont>
      <p:font typeface="Source Serif 4 Light" panose="020B0604020202020204" charset="0"/>
      <p:regular r:id="rId15"/>
      <p:italic r:id="rId16"/>
    </p:embeddedFont>
    <p:embeddedFont>
      <p:font typeface="Source Serif 4 SemiBold" panose="020B0604020202020204" charset="0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AFF8"/>
    <a:srgbClr val="AE7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9" autoAdjust="0"/>
    <p:restoredTop sz="94660" autoAdjust="0"/>
  </p:normalViewPr>
  <p:slideViewPr>
    <p:cSldViewPr>
      <p:cViewPr>
        <p:scale>
          <a:sx n="100" d="100"/>
          <a:sy n="100" d="100"/>
        </p:scale>
        <p:origin x="1123" y="20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420936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409eba8f4c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409eba8f4ce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409eba8f4ce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9eba8f4ce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9eba8f4ce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409eba8f4ce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09eba8f4ce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09eba8f4ce_1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g409eba8f4ce_1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09eba8f4ce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409eba8f4ce_1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409eba8f4ce_1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09eba8f4ce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409eba8f4ce_1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409eba8f4ce_1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09eba8f4ce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09eba8f4ce_1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409eba8f4ce_1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09eba8f4ce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09eba8f4ce_1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409eba8f4ce_1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2">
  <p:cSld name="Slide master 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3" descr="preencoded.png">
            <a:hlinkClick r:id="rId4"/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800775e88a_0_24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g2800775e88a_0_24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g2800775e88a_0_2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828675" y="1719077"/>
            <a:ext cx="7572300" cy="25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3000" dirty="0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(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Review I</a:t>
            </a:r>
            <a:r>
              <a:rPr lang="en-GB" sz="3000" dirty="0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endParaRPr lang="en-GB" sz="3000" dirty="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1" name="Google Shape;61;p1"/>
          <p:cNvSpPr txBox="1">
            <a:spLocks noGrp="1"/>
          </p:cNvSpPr>
          <p:nvPr>
            <p:ph type="subTitle" idx="1"/>
          </p:nvPr>
        </p:nvSpPr>
        <p:spPr>
          <a:xfrm>
            <a:off x="251460" y="3147695"/>
            <a:ext cx="3689985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Times New Roman" panose="02020603050405020304"/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    </a:t>
            </a:r>
            <a:endParaRPr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Times New Roman" panose="02020603050405020304"/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Atharva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Bachhav</a:t>
            </a:r>
            <a:endParaRPr lang="en-US" altLang="en-GB"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Times New Roman" panose="02020603050405020304"/>
              <a:buNone/>
            </a:pPr>
            <a:r>
              <a:rPr lang="en-US" alt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Vaishnavi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Bhandare</a:t>
            </a:r>
            <a:endParaRPr lang="en-US" altLang="en-GB"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Times New Roman" panose="02020603050405020304"/>
              <a:buNone/>
            </a:pPr>
            <a:r>
              <a:rPr lang="en-US" alt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Komal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GB" sz="18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Godse</a:t>
            </a:r>
            <a:endParaRPr lang="en-US" altLang="en-GB"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Times New Roman" panose="02020603050405020304"/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Upasana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Wagh</a:t>
            </a:r>
            <a:endParaRPr lang="en-US" sz="18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72150" y="48084"/>
            <a:ext cx="1035000" cy="8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5536" y="43862"/>
            <a:ext cx="6667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1271850" y="4613"/>
            <a:ext cx="6600300" cy="1631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                                         </a:t>
            </a:r>
            <a:r>
              <a:rPr lang="en-GB" sz="1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GB" sz="2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Pune </a:t>
            </a:r>
            <a:r>
              <a:rPr lang="en-GB" sz="2200" b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Vidyarthi</a:t>
            </a:r>
            <a:r>
              <a:rPr lang="en-GB" sz="2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GB" sz="2200" b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Griha’s</a:t>
            </a:r>
            <a:endParaRPr sz="22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GB" sz="18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College of Engineering &amp;  </a:t>
            </a:r>
            <a:r>
              <a:rPr lang="en-GB" sz="18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Shrikrushna</a:t>
            </a:r>
            <a:r>
              <a:rPr lang="en-GB" sz="18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S.  </a:t>
            </a:r>
            <a:r>
              <a:rPr lang="en-GB" sz="18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Dhamankar</a:t>
            </a:r>
            <a:r>
              <a:rPr lang="en-GB" sz="18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Institute of  Management,  </a:t>
            </a:r>
            <a:r>
              <a:rPr lang="en-GB" sz="1800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Nashik</a:t>
            </a:r>
            <a:endParaRPr lang="en-GB" sz="18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&amp; Data Science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818005" y="1707515"/>
            <a:ext cx="6282387" cy="5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TraceX</a:t>
            </a:r>
            <a:endParaRPr lang="en-US" sz="1700" b="1" dirty="0">
              <a:latin typeface="Times New Roman" pitchFamily="18" charset="0"/>
              <a:ea typeface="Source Serif 4 SemiBold" panose="02040603050405020204"/>
              <a:cs typeface="Times New Roman" pitchFamily="18" charset="0"/>
              <a:sym typeface="Source Serif 4 SemiBold" panose="0204060305040502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Intelligent Web Traffic Analysis and Threat Detection System</a:t>
            </a:r>
            <a:endParaRPr sz="1700" b="1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Google Shape;62;p1"/>
          <p:cNvSpPr txBox="1"/>
          <p:nvPr/>
        </p:nvSpPr>
        <p:spPr>
          <a:xfrm>
            <a:off x="6104994" y="3723878"/>
            <a:ext cx="3039006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Times New Roman" panose="02020603050405020304"/>
              <a:buNone/>
            </a:pPr>
            <a:r>
              <a:rPr lang="en-GB" sz="1800" b="0" i="0" u="none" strike="noStrike" cap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by:</a:t>
            </a:r>
            <a:r>
              <a:rPr lang="en-US" altLang="en-GB" sz="1800" b="0" i="0" u="none" strike="noStrike" cap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</a:t>
            </a:r>
            <a:r>
              <a:rPr lang="en-US" altLang="en-GB" sz="1800" b="0" i="0" u="none" strike="noStrike" cap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C. H. </a:t>
            </a:r>
            <a:r>
              <a:rPr lang="en-US" altLang="en-GB" sz="1800" b="0" i="0" u="none" strike="noStrike" cap="none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Patil</a:t>
            </a:r>
            <a:endParaRPr lang="en-GB" sz="1800" b="0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Times New Roman" panose="02020603050405020304"/>
              <a:buNone/>
            </a:pPr>
            <a:endParaRPr lang="en-GB" sz="1800" b="0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523577" y="455265"/>
            <a:ext cx="8096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Source Serif 4 SemiBold" panose="02040603050405020204"/>
              <a:buNone/>
            </a:pPr>
            <a:r>
              <a:rPr lang="en-US" sz="25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1. Introduction</a:t>
            </a:r>
            <a:endParaRPr sz="25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987574"/>
            <a:ext cx="504056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The rapid growth of internet usage has increased the risk of phishing, malicious websites, and other web-based cyber threats.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Traditional security systems often depend on blacklists or previously detected threats, which may not identify newly created or evolving attacks.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 err="1">
                <a:latin typeface="Times New Roman" pitchFamily="18" charset="0"/>
                <a:cs typeface="Times New Roman" pitchFamily="18" charset="0"/>
              </a:rPr>
              <a:t>TraceX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– Intelligent Web Traffic Analysis and Threat Detection System is proposed as a cyber security browser extension.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It provides real-time website threat detection. The system analyzes URLs and website-related security features using a Random Forest Machine Learning model.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It integrates Google Safe Browsing, </a:t>
            </a:r>
            <a:r>
              <a:rPr lang="en-US" sz="1300" dirty="0" err="1">
                <a:latin typeface="Times New Roman" pitchFamily="18" charset="0"/>
                <a:cs typeface="Times New Roman" pitchFamily="18" charset="0"/>
              </a:rPr>
              <a:t>VirusTotal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300" dirty="0" err="1">
                <a:latin typeface="Times New Roman" pitchFamily="18" charset="0"/>
                <a:cs typeface="Times New Roman" pitchFamily="18" charset="0"/>
              </a:rPr>
              <a:t>PhishTank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for additional threat verification. The results are combined to generate a risk score.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Websites are classified as Safe, Suspicious, or Dangerous.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 err="1">
                <a:latin typeface="Times New Roman" pitchFamily="18" charset="0"/>
                <a:cs typeface="Times New Roman" pitchFamily="18" charset="0"/>
              </a:rPr>
              <a:t>TraceX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provides instant security alerts. It helps users make safer decisions while browsing the web.</a:t>
            </a:r>
            <a:endParaRPr lang="en-IN" sz="1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" name="Google Shape;76;p17" title="ChatGPT Image Jul 25, 2026, 08_58_0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431" y="1071453"/>
            <a:ext cx="4032448" cy="3220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523577" y="553957"/>
            <a:ext cx="80967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Source Serif 4 SemiBold" panose="02040603050405020204"/>
              <a:buNone/>
            </a:pPr>
            <a:r>
              <a:rPr lang="en-US" sz="25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2. Motivation</a:t>
            </a:r>
            <a:endParaRPr sz="25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523577" y="1501453"/>
            <a:ext cx="336600" cy="33660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</a:p>
        </p:txBody>
      </p:sp>
      <p:sp>
        <p:nvSpPr>
          <p:cNvPr id="65" name="Google Shape;65;p8"/>
          <p:cNvSpPr/>
          <p:nvPr/>
        </p:nvSpPr>
        <p:spPr>
          <a:xfrm>
            <a:off x="1009724" y="1552873"/>
            <a:ext cx="7610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30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Increasing number of phishing and malicious websites.</a:t>
            </a:r>
            <a:endParaRPr sz="13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523577" y="2137246"/>
            <a:ext cx="336600" cy="33660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</a:p>
        </p:txBody>
      </p:sp>
      <p:sp>
        <p:nvSpPr>
          <p:cNvPr id="67" name="Google Shape;67;p8"/>
          <p:cNvSpPr/>
          <p:nvPr/>
        </p:nvSpPr>
        <p:spPr>
          <a:xfrm>
            <a:off x="1009724" y="2188666"/>
            <a:ext cx="7610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30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Users may unknowingly visit fake websites designed to steal sensitive information.</a:t>
            </a:r>
            <a:endParaRPr sz="130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523577" y="2773040"/>
            <a:ext cx="336600" cy="33660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</a:p>
        </p:txBody>
      </p:sp>
      <p:sp>
        <p:nvSpPr>
          <p:cNvPr id="69" name="Google Shape;69;p8"/>
          <p:cNvSpPr/>
          <p:nvPr/>
        </p:nvSpPr>
        <p:spPr>
          <a:xfrm>
            <a:off x="1009724" y="2824460"/>
            <a:ext cx="7610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30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Need for real-time website analysis while browsing.</a:t>
            </a:r>
            <a:endParaRPr sz="13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523577" y="3408834"/>
            <a:ext cx="336600" cy="33660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</a:p>
        </p:txBody>
      </p:sp>
      <p:sp>
        <p:nvSpPr>
          <p:cNvPr id="71" name="Google Shape;71;p8"/>
          <p:cNvSpPr/>
          <p:nvPr/>
        </p:nvSpPr>
        <p:spPr>
          <a:xfrm>
            <a:off x="1009724" y="3460254"/>
            <a:ext cx="7610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30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Combining Machine Learning with multiple security services can provide additional threat information.</a:t>
            </a:r>
            <a:endParaRPr sz="13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523577" y="4044628"/>
            <a:ext cx="336600" cy="33660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</a:p>
        </p:txBody>
      </p:sp>
      <p:sp>
        <p:nvSpPr>
          <p:cNvPr id="73" name="Google Shape;73;p8"/>
          <p:cNvSpPr/>
          <p:nvPr/>
        </p:nvSpPr>
        <p:spPr>
          <a:xfrm>
            <a:off x="1009724" y="4096048"/>
            <a:ext cx="7610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30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Traditional</a:t>
            </a:r>
            <a:r>
              <a:rPr lang="en-US" sz="1200" dirty="0"/>
              <a:t> blacklist-based methods may not detect newly created threats.</a:t>
            </a:r>
            <a:endParaRPr sz="130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/>
        </p:nvSpPr>
        <p:spPr>
          <a:xfrm>
            <a:off x="539751" y="338350"/>
            <a:ext cx="80967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Source Serif 4 SemiBold" panose="02040603050405020204"/>
              <a:buNone/>
            </a:pPr>
            <a:r>
              <a:rPr lang="en-US" sz="25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3. Literature Survey</a:t>
            </a:r>
            <a:endParaRPr sz="25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594893026"/>
              </p:ext>
            </p:extLst>
          </p:nvPr>
        </p:nvGraphicFramePr>
        <p:xfrm>
          <a:off x="287524" y="1031825"/>
          <a:ext cx="8568951" cy="3734837"/>
        </p:xfrm>
        <a:graphic>
          <a:graphicData uri="http://schemas.openxmlformats.org/drawingml/2006/table">
            <a:tbl>
              <a:tblPr/>
              <a:tblGrid>
                <a:gridCol w="468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2949">
                  <a:extLst>
                    <a:ext uri="{9D8B030D-6E8A-4147-A177-3AD203B41FA5}">
                      <a16:colId xmlns:a16="http://schemas.microsoft.com/office/drawing/2014/main" val="3693076770"/>
                    </a:ext>
                  </a:extLst>
                </a:gridCol>
                <a:gridCol w="1403755">
                  <a:extLst>
                    <a:ext uri="{9D8B030D-6E8A-4147-A177-3AD203B41FA5}">
                      <a16:colId xmlns:a16="http://schemas.microsoft.com/office/drawing/2014/main" val="97826078"/>
                    </a:ext>
                  </a:extLst>
                </a:gridCol>
                <a:gridCol w="1403755">
                  <a:extLst>
                    <a:ext uri="{9D8B030D-6E8A-4147-A177-3AD203B41FA5}">
                      <a16:colId xmlns:a16="http://schemas.microsoft.com/office/drawing/2014/main" val="548649533"/>
                    </a:ext>
                  </a:extLst>
                </a:gridCol>
              </a:tblGrid>
              <a:tr h="364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</a:p>
                  </a:txBody>
                  <a:tcPr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8A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8A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Authors</a:t>
                      </a:r>
                    </a:p>
                  </a:txBody>
                  <a:tcPr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8A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906"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dirty="0"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SafeNet: AI-Powered Browser Extension — Harika Vaka et al.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phishing websites in real time.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95.3% accuracy, 96.2% recall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Deep Learning &amp; cross-platform support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138"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dirty="0"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Cybersecurity — </a:t>
                      </a: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Adavelli</a:t>
                      </a: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AI to detect cyber threats.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/ ML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helps detect and respond to threats.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real-time adaptive systems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138"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dirty="0"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in Network and Mobile Security — Singh &amp; </a:t>
                      </a:r>
                      <a:r>
                        <a:rPr lang="en-IN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Kaunert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security using AI.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/ ML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helps automate threat detection.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AI to browser security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495"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dirty="0">
                          <a:latin typeface="Times New Roman" panose="02020603050405020304" pitchFamily="18" charset="0"/>
                          <a:ea typeface="Calibri" panose="020F0502020204030204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URL Detection using ML &amp; XAI — Pavani et al.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phishing and explain predictions.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/ ML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detection with explanations.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08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XAI to browser extensions</a:t>
                      </a:r>
                      <a:endParaRPr lang="en-US" altLang="zh-CN" sz="1200" b="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523577" y="548134"/>
            <a:ext cx="80967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Source Serif 4 SemiBold" panose="02040603050405020204"/>
              <a:buNone/>
            </a:pPr>
            <a:r>
              <a:rPr lang="en-US" sz="25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4. Objectives</a:t>
            </a:r>
            <a:endParaRPr sz="25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523577" y="1171352"/>
            <a:ext cx="2853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Light" panose="02040603050405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erif 4 Light" panose="02040603050405020204"/>
                <a:ea typeface="Source Serif 4 Light" panose="02040603050405020204"/>
                <a:cs typeface="Source Serif 4 Light" panose="02040603050405020204"/>
                <a:sym typeface="Source Serif 4 Light" panose="02040603050405020204"/>
              </a:rPr>
              <a:t>01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523577" y="1394668"/>
            <a:ext cx="3980400" cy="19200"/>
          </a:xfrm>
          <a:prstGeom prst="rect">
            <a:avLst/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523577" y="1504057"/>
            <a:ext cx="3980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25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Develop a real-time cyber security browser extension</a:t>
            </a:r>
            <a:endParaRPr sz="130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4639940" y="1171352"/>
            <a:ext cx="2853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Light" panose="02040603050405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erif 4 Light" panose="02040603050405020204"/>
                <a:ea typeface="Source Serif 4 Light" panose="02040603050405020204"/>
                <a:cs typeface="Source Serif 4 Light" panose="02040603050405020204"/>
                <a:sym typeface="Source Serif 4 Light" panose="02040603050405020204"/>
              </a:rPr>
              <a:t>02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4639940" y="1394668"/>
            <a:ext cx="3980400" cy="19200"/>
          </a:xfrm>
          <a:prstGeom prst="rect">
            <a:avLst/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4639940" y="1504057"/>
            <a:ext cx="3980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25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Detect phishing and potentially malicious websites.</a:t>
            </a:r>
            <a:endParaRPr sz="13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523577" y="1956495"/>
            <a:ext cx="2853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Light" panose="02040603050405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erif 4 Light" panose="02040603050405020204"/>
                <a:ea typeface="Source Serif 4 Light" panose="02040603050405020204"/>
                <a:cs typeface="Source Serif 4 Light" panose="02040603050405020204"/>
                <a:sym typeface="Source Serif 4 Light" panose="02040603050405020204"/>
              </a:rPr>
              <a:t>03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523577" y="2179811"/>
            <a:ext cx="3980400" cy="19200"/>
          </a:xfrm>
          <a:prstGeom prst="rect">
            <a:avLst/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523577" y="2289200"/>
            <a:ext cx="3980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25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Extract important URL and website security features.</a:t>
            </a:r>
            <a:endParaRPr sz="130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4639940" y="1956495"/>
            <a:ext cx="2853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Light" panose="02040603050405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erif 4 Light" panose="02040603050405020204"/>
                <a:ea typeface="Source Serif 4 Light" panose="02040603050405020204"/>
                <a:cs typeface="Source Serif 4 Light" panose="02040603050405020204"/>
                <a:sym typeface="Source Serif 4 Light" panose="02040603050405020204"/>
              </a:rPr>
              <a:t>04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4639940" y="2179811"/>
            <a:ext cx="3980400" cy="19200"/>
          </a:xfrm>
          <a:prstGeom prst="rect">
            <a:avLst/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4639940" y="2289200"/>
            <a:ext cx="3980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25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Use Random Forest Machine Learning for threat detection.</a:t>
            </a:r>
            <a:endParaRPr sz="13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523577" y="2741637"/>
            <a:ext cx="2853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Light" panose="02040603050405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erif 4 Light" panose="02040603050405020204"/>
                <a:ea typeface="Source Serif 4 Light" panose="02040603050405020204"/>
                <a:cs typeface="Source Serif 4 Light" panose="02040603050405020204"/>
                <a:sym typeface="Source Serif 4 Light" panose="02040603050405020204"/>
              </a:rPr>
              <a:t>05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523577" y="2964954"/>
            <a:ext cx="3980400" cy="19200"/>
          </a:xfrm>
          <a:prstGeom prst="rect">
            <a:avLst/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523576" y="3074343"/>
            <a:ext cx="411636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25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Integrate Google Safe Browsing, </a:t>
            </a:r>
            <a:r>
              <a:rPr lang="en-US" sz="1300" dirty="0" err="1">
                <a:latin typeface="Times New Roman" pitchFamily="18" charset="0"/>
                <a:cs typeface="Times New Roman" pitchFamily="18" charset="0"/>
              </a:rPr>
              <a:t>VirusTotal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300" dirty="0" err="1">
                <a:latin typeface="Times New Roman" pitchFamily="18" charset="0"/>
                <a:cs typeface="Times New Roman" pitchFamily="18" charset="0"/>
              </a:rPr>
              <a:t>PhishTank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.</a:t>
            </a:r>
            <a:endParaRPr sz="130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4639940" y="2741637"/>
            <a:ext cx="2853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Light" panose="02040603050405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erif 4 Light" panose="02040603050405020204"/>
                <a:ea typeface="Source Serif 4 Light" panose="02040603050405020204"/>
                <a:cs typeface="Source Serif 4 Light" panose="02040603050405020204"/>
                <a:sym typeface="Source Serif 4 Light" panose="02040603050405020204"/>
              </a:rPr>
              <a:t>06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4639940" y="2964954"/>
            <a:ext cx="3980400" cy="19200"/>
          </a:xfrm>
          <a:prstGeom prst="rect">
            <a:avLst/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4639940" y="3074343"/>
            <a:ext cx="3980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300" b="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Calculate a </a:t>
            </a:r>
            <a:r>
              <a:rPr lang="en-US" sz="130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erif 4" panose="02040603050405020204"/>
                <a:cs typeface="Times New Roman" pitchFamily="18" charset="0"/>
                <a:sym typeface="Source Serif 4" panose="02040603050405020204"/>
              </a:rPr>
              <a:t>combined risk score</a:t>
            </a:r>
            <a:r>
              <a:rPr lang="en-US" sz="130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.</a:t>
            </a:r>
            <a:endParaRPr sz="130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523577" y="3573946"/>
            <a:ext cx="2853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Light" panose="020406030504050202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Source Serif 4 Light" panose="02040603050405020204"/>
                <a:ea typeface="Source Serif 4 Light" panose="02040603050405020204"/>
                <a:cs typeface="Source Serif 4 Light" panose="02040603050405020204"/>
                <a:sym typeface="Source Serif 4 Light" panose="02040603050405020204"/>
              </a:rPr>
              <a:t>07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523576" y="3806304"/>
            <a:ext cx="3980400" cy="19200"/>
          </a:xfrm>
          <a:prstGeom prst="rect">
            <a:avLst/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523577" y="3964260"/>
            <a:ext cx="3980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Source Serif 4 SemiBold" panose="02040603050405020204"/>
              <a:buNone/>
            </a:pPr>
            <a:r>
              <a:rPr lang="en-US" sz="1300" b="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Classify websites as </a:t>
            </a:r>
            <a:r>
              <a:rPr lang="en-US" sz="130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erif 4" panose="02040603050405020204"/>
                <a:cs typeface="Times New Roman" pitchFamily="18" charset="0"/>
                <a:sym typeface="Source Serif 4" panose="02040603050405020204"/>
              </a:rPr>
              <a:t>Safe / Suspicious / Dangerous</a:t>
            </a:r>
            <a:r>
              <a:rPr lang="en-US" sz="130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.</a:t>
            </a:r>
            <a:endParaRPr sz="130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4644193" y="3573946"/>
            <a:ext cx="2853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Source Serif 4 Light" panose="02040603050405020204"/>
              <a:buNone/>
            </a:pPr>
            <a:r>
              <a:rPr lang="en-US" sz="1050" b="0" i="0" u="none" strike="noStrike" cap="none" dirty="0">
                <a:solidFill>
                  <a:srgbClr val="272525"/>
                </a:solidFill>
                <a:latin typeface="Source Serif 4 Light" panose="02040603050405020204"/>
                <a:ea typeface="Source Serif 4 Light" panose="02040603050405020204"/>
                <a:cs typeface="Source Serif 4 Light" panose="02040603050405020204"/>
                <a:sym typeface="Source Serif 4 Light" panose="02040603050405020204"/>
              </a:rPr>
              <a:t>08</a:t>
            </a:r>
            <a:endParaRPr sz="10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4665165" y="3808372"/>
            <a:ext cx="3980400" cy="19200"/>
          </a:xfrm>
          <a:prstGeom prst="rect">
            <a:avLst/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4677870" y="3964260"/>
            <a:ext cx="398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Clr>
                <a:srgbClr val="272525"/>
              </a:buClr>
              <a:buSzPts val="1250"/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Provide instant security alerts to users.</a:t>
            </a:r>
            <a:endParaRPr sz="13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/>
          <p:nvPr/>
        </p:nvSpPr>
        <p:spPr>
          <a:xfrm>
            <a:off x="299222" y="555526"/>
            <a:ext cx="80967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Source Serif 4 SemiBold" panose="02040603050405020204"/>
              <a:buNone/>
            </a:pPr>
            <a:r>
              <a:rPr lang="en-US" sz="25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5. Problem Statement</a:t>
            </a:r>
            <a:endParaRPr sz="25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205535" y="1431479"/>
            <a:ext cx="4173572" cy="3329458"/>
          </a:xfrm>
          <a:prstGeom prst="roundRect">
            <a:avLst>
              <a:gd name="adj" fmla="val 5821"/>
            </a:avLst>
          </a:prstGeom>
          <a:solidFill>
            <a:srgbClr val="D8AFF8">
              <a:alpha val="9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467544" y="1779958"/>
            <a:ext cx="37821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 algn="just">
              <a:lnSpc>
                <a:spcPct val="133000"/>
              </a:lnSpc>
              <a:buClr>
                <a:srgbClr val="272525"/>
              </a:buClr>
              <a:buSzPts val="1100"/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Phishing websites are continuously created and modified to deceive users. </a:t>
            </a:r>
          </a:p>
          <a:p>
            <a:pPr marL="171450" lvl="0" indent="-171450" algn="just">
              <a:lnSpc>
                <a:spcPct val="133000"/>
              </a:lnSpc>
              <a:buClr>
                <a:srgbClr val="272525"/>
              </a:buClr>
              <a:buSzPts val="1100"/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Existing blacklist-based systems mainly identify already reported threats.</a:t>
            </a:r>
          </a:p>
          <a:p>
            <a:pPr marL="171450" lvl="0" indent="-171450" algn="just">
              <a:lnSpc>
                <a:spcPct val="133000"/>
              </a:lnSpc>
              <a:buClr>
                <a:srgbClr val="272525"/>
              </a:buClr>
              <a:buSzPts val="1100"/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Newly created or unknown phishing websites may remain undetected. </a:t>
            </a:r>
          </a:p>
          <a:p>
            <a:pPr marL="171450" lvl="0" indent="-171450" algn="just">
              <a:lnSpc>
                <a:spcPct val="133000"/>
              </a:lnSpc>
              <a:buClr>
                <a:srgbClr val="272525"/>
              </a:buClr>
              <a:buSzPts val="1100"/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Single detection methods may produce limited threat information. </a:t>
            </a:r>
          </a:p>
          <a:p>
            <a:pPr marL="171450" lvl="0" indent="-171450" algn="just">
              <a:lnSpc>
                <a:spcPct val="133000"/>
              </a:lnSpc>
              <a:buClr>
                <a:srgbClr val="272525"/>
              </a:buClr>
              <a:buSzPts val="1100"/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Users need a system that can analyze websites in real time and clearly communicate the risk. </a:t>
            </a:r>
          </a:p>
          <a:p>
            <a:pPr marL="171450" lvl="0" indent="-171450" algn="just">
              <a:lnSpc>
                <a:spcPct val="133000"/>
              </a:lnSpc>
              <a:buClr>
                <a:srgbClr val="272525"/>
              </a:buClr>
              <a:buSzPts val="1100"/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Therefore,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TraceX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aims to provide intelligent, multi-layered, and real-time web threat detection.</a:t>
            </a:r>
            <a:endParaRPr sz="120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4759226" y="2128168"/>
            <a:ext cx="3866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urce Serif 4 SemiBold" panose="02040603050405020204"/>
              <a:buNone/>
            </a:pPr>
            <a:r>
              <a:rPr lang="en-US" sz="13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The </a:t>
            </a:r>
            <a:r>
              <a:rPr lang="en-US" sz="1300" b="1" i="0" u="none" strike="noStrike" cap="none" dirty="0" err="1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TraceX</a:t>
            </a:r>
            <a:r>
              <a:rPr lang="en-US" sz="13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 Solution</a:t>
            </a:r>
            <a:endParaRPr sz="13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4759226" y="2497708"/>
            <a:ext cx="4205262" cy="11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Source Sans 3" panose="020B0303030403020204"/>
              <a:buNone/>
            </a:pPr>
            <a:r>
              <a:rPr lang="en-US" sz="1300" b="1" i="0" u="none" strike="noStrike" cap="none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TraceX</a:t>
            </a:r>
            <a:r>
              <a:rPr lang="en-US" sz="1300" b="1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 addresses this by automatically capturing website information, extracting security features, applying ML detection, verifying URLs through multiple threat-intelligence APIs, calculating risk, and providing an immediate warning.</a:t>
            </a:r>
            <a:endParaRPr sz="13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523650" y="123478"/>
            <a:ext cx="8096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urce Serif 4 SemiBold" panose="02040603050405020204"/>
              <a:buNone/>
            </a:pPr>
            <a:r>
              <a:rPr lang="en-US" sz="2500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6. Proposed System</a:t>
            </a:r>
            <a:endParaRPr sz="25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F0CAE-52BF-2B62-DA5D-53B65CB76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504660"/>
            <a:ext cx="7666202" cy="4528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523577" y="411434"/>
            <a:ext cx="8096700" cy="36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4000"/>
              </a:lnSpc>
              <a:buSzPts val="2650"/>
            </a:pPr>
            <a:r>
              <a:rPr lang="en-US" sz="2500" b="1" dirty="0"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7. H/W &amp; S/W Requirements</a:t>
            </a:r>
            <a:endParaRPr lang="en-US" sz="2500" b="1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7544" y="1275606"/>
            <a:ext cx="1923925" cy="3025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4000"/>
              </a:lnSpc>
              <a:buSzPts val="1300"/>
            </a:pPr>
            <a:r>
              <a:rPr lang="en-US" b="1" dirty="0"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Software Requirement</a:t>
            </a:r>
            <a:endParaRPr lang="en-US" b="1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3528" y="1773792"/>
            <a:ext cx="4572000" cy="23847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3520" lvl="0" indent="-242570">
              <a:lnSpc>
                <a:spcPct val="133000"/>
              </a:lnSpc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Browser: Google Chrome / Chromium</a:t>
            </a:r>
            <a:endParaRPr lang="en-US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lvl="0" indent="-242570">
              <a:lnSpc>
                <a:spcPct val="133000"/>
              </a:lnSpc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Extension: React, Tailwind CSS, JavaScript</a:t>
            </a:r>
            <a:endParaRPr lang="en-US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lvl="0" indent="-242570">
              <a:lnSpc>
                <a:spcPct val="133000"/>
              </a:lnSpc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Backend: Python, </a:t>
            </a:r>
            <a:r>
              <a:rPr lang="en-US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FastAPI</a:t>
            </a:r>
            <a:endParaRPr lang="en-US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lvl="0" indent="-242570">
              <a:lnSpc>
                <a:spcPct val="133000"/>
              </a:lnSpc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ML: </a:t>
            </a:r>
            <a:r>
              <a:rPr lang="en-US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Scikit</a:t>
            </a: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-learn, Random Forest</a:t>
            </a:r>
            <a:endParaRPr lang="en-US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lvl="0" indent="-242570">
              <a:lnSpc>
                <a:spcPct val="133000"/>
              </a:lnSpc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Data: Pandas, </a:t>
            </a:r>
            <a:r>
              <a:rPr lang="en-US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NumPy</a:t>
            </a:r>
            <a:endParaRPr lang="en-US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lvl="0" indent="-242570">
              <a:lnSpc>
                <a:spcPct val="133000"/>
              </a:lnSpc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APIs: Google Safe Browsing, </a:t>
            </a:r>
            <a:r>
              <a:rPr lang="en-US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VirusTotal</a:t>
            </a: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, </a:t>
            </a:r>
            <a:r>
              <a:rPr lang="en-US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PhishTank</a:t>
            </a:r>
            <a:endParaRPr lang="en-US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lvl="0" indent="-242570">
              <a:lnSpc>
                <a:spcPct val="133000"/>
              </a:lnSpc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Database: </a:t>
            </a:r>
            <a:r>
              <a:rPr lang="en-US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MongoDB</a:t>
            </a:r>
            <a:endParaRPr lang="en-US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lvl="0" indent="-242570">
              <a:lnSpc>
                <a:spcPct val="133000"/>
              </a:lnSpc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Development: VS Code , </a:t>
            </a:r>
            <a:r>
              <a:rPr lang="en-US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Git</a:t>
            </a:r>
            <a:r>
              <a:rPr lang="en-US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/</a:t>
            </a:r>
            <a:r>
              <a:rPr lang="en-US" dirty="0" err="1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GitHub</a:t>
            </a:r>
            <a:endParaRPr lang="en-US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6" name="Google Shape;272;p17"/>
          <p:cNvSpPr/>
          <p:nvPr/>
        </p:nvSpPr>
        <p:spPr>
          <a:xfrm>
            <a:off x="4978528" y="1321532"/>
            <a:ext cx="3279785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ource Serif 4 SemiBold" panose="02040603050405020204"/>
              <a:buNone/>
            </a:pPr>
            <a:r>
              <a:rPr lang="en-US" b="1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Hardware</a:t>
            </a:r>
            <a:endParaRPr b="1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7" name="Google Shape;273;p17"/>
          <p:cNvSpPr/>
          <p:nvPr/>
        </p:nvSpPr>
        <p:spPr>
          <a:xfrm>
            <a:off x="4978528" y="1851670"/>
            <a:ext cx="38661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3520" marR="0" lvl="0" indent="-2425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b="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Laptop/Desktop</a:t>
            </a:r>
            <a:endParaRPr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marR="0" lvl="0" indent="-2425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b="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Dual-Core processor or higher</a:t>
            </a:r>
            <a:endParaRPr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marR="0" lvl="0" indent="-2425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b="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4 GB RAM minimum; 8 GB recommended</a:t>
            </a:r>
            <a:endParaRPr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  <a:p>
            <a:pPr marL="223520" marR="0" lvl="0" indent="-2425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Source Sans 3" panose="020B0303030403020204"/>
              <a:buChar char="•"/>
            </a:pPr>
            <a:r>
              <a:rPr lang="en-US" b="0" i="0" u="none" strike="noStrike" cap="none" dirty="0">
                <a:solidFill>
                  <a:srgbClr val="272525"/>
                </a:solidFill>
                <a:latin typeface="Times New Roman" pitchFamily="18" charset="0"/>
                <a:ea typeface="Source Sans 3" panose="020B0303030403020204"/>
                <a:cs typeface="Times New Roman" pitchFamily="18" charset="0"/>
                <a:sym typeface="Source Sans 3" panose="020B0303030403020204"/>
              </a:rPr>
              <a:t>Internet connection</a:t>
            </a:r>
            <a:endParaRPr b="0" i="0" u="none" strike="noStrike" cap="none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06667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/>
          <p:nvPr/>
        </p:nvSpPr>
        <p:spPr>
          <a:xfrm>
            <a:off x="523577" y="813197"/>
            <a:ext cx="80967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Source Serif 4 SemiBold" panose="02040603050405020204"/>
              <a:buNone/>
            </a:pPr>
            <a:r>
              <a:rPr lang="en-US" sz="2500" dirty="0"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8</a:t>
            </a:r>
            <a:r>
              <a:rPr lang="en-US" sz="2500" b="0" i="0" u="none" strike="noStrike" cap="none" dirty="0">
                <a:solidFill>
                  <a:srgbClr val="000000"/>
                </a:solidFill>
                <a:latin typeface="Times New Roman" pitchFamily="18" charset="0"/>
                <a:ea typeface="Source Serif 4 SemiBold" panose="02040603050405020204"/>
                <a:cs typeface="Times New Roman" pitchFamily="18" charset="0"/>
                <a:sym typeface="Source Serif 4 SemiBold" panose="02040603050405020204"/>
              </a:rPr>
              <a:t>. </a:t>
            </a:r>
            <a:r>
              <a:rPr lang="en-GB" sz="2500" b="1" dirty="0">
                <a:solidFill>
                  <a:schemeClr val="tx1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References </a:t>
            </a:r>
            <a:endParaRPr lang="en-GB" sz="2500" b="1" i="0" u="none" strike="noStrike" cap="none" dirty="0">
              <a:solidFill>
                <a:schemeClr val="tx1"/>
              </a:solidFill>
              <a:latin typeface="Times New Roman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23875" y="1576705"/>
            <a:ext cx="8361045" cy="198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200" dirty="0"/>
              <a:t>[1] </a:t>
            </a:r>
            <a:r>
              <a:rPr lang="en-US" sz="1200" dirty="0" err="1"/>
              <a:t>Adavelli</a:t>
            </a:r>
            <a:r>
              <a:rPr lang="en-US" sz="1200" dirty="0"/>
              <a:t>, S. R., </a:t>
            </a:r>
            <a:r>
              <a:rPr lang="en-US" sz="1200" dirty="0" err="1"/>
              <a:t>Mittapelly</a:t>
            </a:r>
            <a:r>
              <a:rPr lang="en-US" sz="1200" dirty="0"/>
              <a:t>, A. K., &amp; Reddy Karri, N. (2025). AI and </a:t>
            </a:r>
            <a:r>
              <a:rPr lang="en-US" sz="1200" dirty="0" err="1"/>
              <a:t>Cybersecurity</a:t>
            </a:r>
            <a:r>
              <a:rPr lang="en-US" sz="1200" dirty="0"/>
              <a:t>: Advancements in Threat Detection and Prevention. Academic Guru Publishing House.</a:t>
            </a:r>
          </a:p>
          <a:p>
            <a:endParaRPr lang="en-IN" sz="1200" dirty="0"/>
          </a:p>
          <a:p>
            <a:r>
              <a:rPr lang="en-US" sz="1200" dirty="0"/>
              <a:t>[2] </a:t>
            </a:r>
            <a:r>
              <a:rPr lang="en-US" sz="1200" dirty="0" err="1"/>
              <a:t>Kiran</a:t>
            </a:r>
            <a:r>
              <a:rPr lang="en-US" sz="1200" dirty="0"/>
              <a:t>, M. V. K., </a:t>
            </a:r>
            <a:r>
              <a:rPr lang="en-US" sz="1200" dirty="0" err="1"/>
              <a:t>Rajendran</a:t>
            </a:r>
            <a:r>
              <a:rPr lang="en-US" sz="1200" dirty="0"/>
              <a:t>, A., &amp; </a:t>
            </a:r>
            <a:r>
              <a:rPr lang="en-US" sz="1200" dirty="0" err="1"/>
              <a:t>Vasudevan</a:t>
            </a:r>
            <a:r>
              <a:rPr lang="en-US" sz="1200" dirty="0"/>
              <a:t>, S. K. (2018). Phishing detection using RDF and random forests. International Arab Journal of Information Technology, 15(5), 817–824.</a:t>
            </a:r>
          </a:p>
          <a:p>
            <a:endParaRPr lang="en-IN" sz="1200" dirty="0"/>
          </a:p>
          <a:p>
            <a:r>
              <a:rPr lang="en-US" sz="1200" dirty="0"/>
              <a:t>[3] Singh, B., &amp; </a:t>
            </a:r>
            <a:r>
              <a:rPr lang="en-US" sz="1200" dirty="0" err="1"/>
              <a:t>Kaunert</a:t>
            </a:r>
            <a:r>
              <a:rPr lang="en-US" sz="1200" dirty="0"/>
              <a:t>, C. (2025). Fortifying the Digital World and Shielding Smart Infrastructures: AI-Enabled Malware and Threat. In Utilizing AI in Network and Mobile Security for Threat Detection and Prevention (pp. 1–22). IGI Global Scientific Publishing.</a:t>
            </a:r>
            <a:endParaRPr lang="en-IN" sz="1200" dirty="0"/>
          </a:p>
          <a:p>
            <a:r>
              <a:rPr lang="en-US" sz="1200" dirty="0"/>
              <a:t> </a:t>
            </a:r>
            <a:endParaRPr lang="en-IN" sz="1200" dirty="0"/>
          </a:p>
          <a:p>
            <a:r>
              <a:rPr lang="en-US" sz="1200" dirty="0"/>
              <a:t>[4] </a:t>
            </a:r>
            <a:r>
              <a:rPr lang="en-US" sz="1200" dirty="0" err="1"/>
              <a:t>Fazliani</a:t>
            </a:r>
            <a:r>
              <a:rPr lang="en-US" sz="1200" dirty="0"/>
              <a:t>, S., </a:t>
            </a:r>
            <a:r>
              <a:rPr lang="en-US" sz="1200" dirty="0" err="1"/>
              <a:t>Frangella</a:t>
            </a:r>
            <a:r>
              <a:rPr lang="en-US" sz="1200" dirty="0"/>
              <a:t>, Z., &amp; </a:t>
            </a:r>
            <a:r>
              <a:rPr lang="en-US" sz="1200" dirty="0" err="1"/>
              <a:t>Udell</a:t>
            </a:r>
            <a:r>
              <a:rPr lang="en-US" sz="1200" dirty="0"/>
              <a:t>, M. (2025). Enhancing Physics-Informed Neural Networks Through Feature Engineering. </a:t>
            </a:r>
            <a:r>
              <a:rPr lang="en-US" sz="1200" dirty="0" err="1"/>
              <a:t>arXiv</a:t>
            </a:r>
            <a:r>
              <a:rPr lang="en-US" sz="1200" dirty="0"/>
              <a:t> preprint arXiv:2502.07209</a:t>
            </a:r>
            <a:endParaRPr lang="en-IN" sz="1200" dirty="0"/>
          </a:p>
          <a:p>
            <a:r>
              <a:rPr lang="en-US" sz="1200" dirty="0"/>
              <a:t> </a:t>
            </a:r>
            <a:endParaRPr lang="en-IN" sz="1200" dirty="0"/>
          </a:p>
          <a:p>
            <a:r>
              <a:rPr lang="en-US" sz="1200" dirty="0"/>
              <a:t>[5] Hu, Y., Zhang, Q., Zhu, H., Wang, B., </a:t>
            </a:r>
            <a:r>
              <a:rPr lang="en-US" sz="1200" dirty="0" err="1"/>
              <a:t>Xiong</a:t>
            </a:r>
            <a:r>
              <a:rPr lang="en-US" sz="1200" dirty="0"/>
              <a:t>, H., &amp; Wang, H. (2025). Scalable intermediate-term earthquake forecasting with multimodal fusion neural networks. Scientific Reports, 15(1), 9748.</a:t>
            </a:r>
            <a:endParaRPr lang="en-IN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2411730" y="1707515"/>
            <a:ext cx="4451985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Source Serif 4 SemiBold" panose="02040603050405020204"/>
              <a:buNone/>
            </a:pPr>
            <a:r>
              <a:rPr lang="en-US" sz="72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920</Words>
  <Application>Microsoft Office PowerPoint</Application>
  <PresentationFormat>On-screen Show (16:9)</PresentationFormat>
  <Paragraphs>128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Source Serif 4 Light</vt:lpstr>
      <vt:lpstr>Source Sans 3</vt:lpstr>
      <vt:lpstr>Source Serif 4 SemiBold</vt:lpstr>
      <vt:lpstr>Times New Roman</vt:lpstr>
      <vt:lpstr>Arial</vt:lpstr>
      <vt:lpstr>Office Theme</vt:lpstr>
      <vt:lpstr>                                 (Project Review I)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(Project Review I)</dc:title>
  <dc:creator>Rushikesh</dc:creator>
  <cp:lastModifiedBy>Rushikesh Bhandare</cp:lastModifiedBy>
  <cp:revision>13</cp:revision>
  <dcterms:created xsi:type="dcterms:W3CDTF">2026-09-16T04:53:03Z</dcterms:created>
  <dcterms:modified xsi:type="dcterms:W3CDTF">2026-09-16T15:29:55Z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34EB900854644A2F8B8FE1FE8F71E4C1_12</vt:lpwstr>
  </property>
</Properties>
</file>